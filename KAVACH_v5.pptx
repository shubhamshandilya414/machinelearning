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00C2A8">
              <a:alpha val="6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" y="16459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 SUITE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ticket to production,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lifting a finger.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3200400" cy="27432"/>
          </a:xfrm>
          <a:prstGeom prst="rect">
            <a:avLst/>
          </a:prstGeom>
          <a:solidFill>
            <a:srgbClr val="00C2A8">
              <a:alpha val="6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584448"/>
            <a:ext cx="1874520" cy="502920"/>
          </a:xfrm>
          <a:prstGeom prst="rect">
            <a:avLst/>
          </a:prstGeom>
          <a:solidFill>
            <a:srgbClr val="1A56DB">
              <a:alpha val="7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5935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CRAFT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56DB"/>
                </a:solidFill>
              </a:rPr>
              <a:t>Build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584448"/>
            <a:ext cx="1874520" cy="50292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5935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LENS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584448"/>
            <a:ext cx="1874520" cy="502920"/>
          </a:xfrm>
          <a:prstGeom prst="rect">
            <a:avLst/>
          </a:prstGeom>
          <a:solidFill>
            <a:srgbClr val="E8340A">
              <a:alpha val="75000"/>
            </a:srgbClr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5935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PULSE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340A"/>
                </a:solidFill>
              </a:rPr>
              <a:t>Monitor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3584448"/>
            <a:ext cx="1874520" cy="502920"/>
          </a:xfrm>
          <a:prstGeom prst="rect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5935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PROBE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Triage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Shubham Shandilya  ·  Engineering  ·  March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4855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KAVACH  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more time on process than on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06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0604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2–4 hrs per ticket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542032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FA3"/>
                </a:solidFill>
              </a:rPr>
              <a:t>Reading codebase, mapping dependencies, writing boilerplate before first line of real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06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80160"/>
            <a:ext cx="260604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06654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Repeated mistakes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2542032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FA3"/>
                </a:solidFill>
              </a:rPr>
              <a:t>Null checks missed, logging skipped, wrong HTTP codes — same review comments every sprint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80160"/>
            <a:ext cx="260604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206654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Slow review cycles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2542032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FA3"/>
                </a:solidFill>
              </a:rPr>
              <a:t>PRs fail review for preventable issues. Hours of back-and-forth before merge.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9F8"/>
                </a:solidFill>
              </a:rPr>
              <a:t>Engineers spend up to 35% of sprint time on implementation planning rather than actual coding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THE KAVACH SUITE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Four agents. Every step from ticket to healed production — automated.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057400" cy="3840480"/>
          </a:xfrm>
          <a:prstGeom prst="rect">
            <a:avLst/>
          </a:prstGeom>
          <a:solidFill>
            <a:srgbClr val="0A1E3D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97280"/>
            <a:ext cx="205740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1155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CRAFT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" y="1554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</a:rPr>
              <a:t>Implementation 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C7D9F8"/>
                </a:solidFill>
              </a:rPr>
              <a:t>Jira ticket → production-ready PR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304288"/>
            <a:ext cx="19019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Reads Jira issue + acceptance criteria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Queries Graph, Vector &amp; Experience RAG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Generates code + tests per file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Applies Experience guard rules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Opens PR + links back to Jira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14016" y="1097280"/>
            <a:ext cx="2057400" cy="3840480"/>
          </a:xfrm>
          <a:prstGeom prst="rect">
            <a:avLst/>
          </a:prstGeom>
          <a:solidFill>
            <a:srgbClr val="130A2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14016" y="1097280"/>
            <a:ext cx="20574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115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71216" y="11155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LENS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05456" y="1554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PR Review Agent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05456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C7D9F8"/>
                </a:solidFill>
              </a:rPr>
              <a:t>PR diff → inline comments + guard rules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05456" y="2304288"/>
            <a:ext cx="19019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Reads every file diff in the PR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Checks HTTP codes, null safety, logging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Posts inline comments per file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Saves findings to Experience Store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Future PRs inherit this knowledge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1097280"/>
            <a:ext cx="2057400" cy="3840480"/>
          </a:xfrm>
          <a:prstGeom prst="rect">
            <a:avLst/>
          </a:prstGeom>
          <a:solidFill>
            <a:srgbClr val="2A0805"/>
          </a:solidFill>
          <a:ln w="19050">
            <a:solidFill>
              <a:srgbClr val="E8340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097280"/>
            <a:ext cx="2057400" cy="384048"/>
          </a:xfrm>
          <a:prstGeom prst="rect">
            <a:avLst/>
          </a:prstGeom>
          <a:solidFill>
            <a:srgbClr val="E8340A"/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115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84064" y="11155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PULSE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18304" y="1554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340A"/>
                </a:solidFill>
              </a:rPr>
              <a:t>Monitoring Agent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18304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C7D9F8"/>
                </a:solidFill>
              </a:rPr>
              <a:t>Watches production 24 / 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18304" y="2304288"/>
            <a:ext cx="19019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Ingests logs from CloudWatch / ELK / Datadog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Detects anomalies, 5xx storms, OOM events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Sends severity-ranked NOC alert instantly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Logs incident summary for Probe to pick up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0176" y="1115568"/>
            <a:ext cx="6400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1115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0D1A"/>
                </a:solidFill>
              </a:rPr>
              <a:t>FUTURE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839712" y="1097280"/>
            <a:ext cx="2057400" cy="3840480"/>
          </a:xfrm>
          <a:prstGeom prst="rect">
            <a:avLst/>
          </a:prstGeom>
          <a:solidFill>
            <a:srgbClr val="041A10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39712" y="1097280"/>
            <a:ext cx="20574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1115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96912" y="11155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PROBE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31152" y="1554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Bug Triage Agent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31152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C7D9F8"/>
                </a:solidFill>
              </a:rPr>
              <a:t>Logs → root cause → Jira bug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31152" y="2304288"/>
            <a:ext cx="190195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Reads incident log from Pulse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LLM identifies root cause + failing service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Opens fully-described Jira bug ticket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A0BDD8"/>
                </a:solidFill>
              </a:rPr>
              <a:t>Craft picks it up and generates the fix PR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93024" y="1115568"/>
            <a:ext cx="6400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93024" y="1115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0D1A"/>
                </a:solidFill>
              </a:rPr>
              <a:t>FUTURE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CRAFT + LENS  —  TODAY'S WORKFLOW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960120" cy="1627632"/>
          </a:xfrm>
          <a:prstGeom prst="rect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9601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CRAFT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487168"/>
            <a:ext cx="960120" cy="162763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487168"/>
            <a:ext cx="9601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097280" cy="151790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Jira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Ticket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14813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713232"/>
            <a:ext cx="1097280" cy="1517904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7132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4813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713232"/>
            <a:ext cx="1097280" cy="1517904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7132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0368" y="14813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713232"/>
            <a:ext cx="1097280" cy="151790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7132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Guard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56248" y="14813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713232"/>
            <a:ext cx="1097280" cy="1517904"/>
          </a:xfrm>
          <a:prstGeom prst="rect">
            <a:avLst/>
          </a:prstGeom>
          <a:solidFill>
            <a:srgbClr val="E8A838">
              <a:alpha val="8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7132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3488" y="1847088"/>
            <a:ext cx="64008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487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PR ready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2542032"/>
            <a:ext cx="1097280" cy="1517904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5420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PR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Diff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65392" y="33101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2542032"/>
            <a:ext cx="1097280" cy="1517904"/>
          </a:xfrm>
          <a:prstGeom prst="rect">
            <a:avLst/>
          </a:prstGeom>
          <a:solidFill>
            <a:srgbClr val="9333EA">
              <a:alpha val="80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5420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39512" y="33101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542032"/>
            <a:ext cx="1097280" cy="1517904"/>
          </a:xfrm>
          <a:prstGeom prst="rect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25420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13632" y="33101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88920" y="2542032"/>
            <a:ext cx="1097280" cy="151790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25420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Exp. Store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87752" y="3310128"/>
            <a:ext cx="18288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2542032"/>
            <a:ext cx="1097280" cy="151790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2542032"/>
            <a:ext cx="10972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PR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Improved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63040" y="4133088"/>
            <a:ext cx="5669280" cy="45720"/>
          </a:xfrm>
          <a:prstGeom prst="rect">
            <a:avLst/>
          </a:prstGeom>
          <a:solidFill>
            <a:srgbClr val="00C2A8">
              <a:alpha val="7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4206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2A8"/>
                </a:solidFill>
              </a:rPr>
              <a:t>♻  The more PRs Lens reviews, the smarter Craft becomes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6DB"/>
                </a:solidFill>
              </a:rPr>
              <a:t>CRAFT  —  IMPLEMENTATION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</a:rPr>
              <a:t>Three RAG sources power every PR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0241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🔗  Graph RAG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A3"/>
                </a:solidFill>
              </a:rPr>
              <a:t>Dependency graph of your repo. Knows which files call which and the blast radius of any change.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64008" cy="10241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📦  Vector RAG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A3"/>
                </a:solidFill>
              </a:rPr>
              <a:t>Semantic search over the codebase. Finds relevant classes, interfaces, and existing patterns.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66160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57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🧠  Experience RAG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9592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FA3"/>
                </a:solidFill>
              </a:rPr>
              <a:t>Your team's past incidents and PR findings enforced as CRITICAL guard rules on every generated file.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023360" cy="3749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56DB"/>
                </a:solidFill>
              </a:rPr>
              <a:t>GENERATION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6642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① </a:t>
            </a:r>
            <a:pPr indent="0" marL="0">
              <a:buNone/>
            </a:pPr>
            <a:r>
              <a:rPr lang="en-US" sz="1200" dirty="0">
                <a:solidFill>
                  <a:srgbClr val="C7D9F8"/>
                </a:solidFill>
              </a:rPr>
              <a:t>Fetch Jira issue + description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0939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② </a:t>
            </a:r>
            <a:pPr indent="0" marL="0">
              <a:buNone/>
            </a:pPr>
            <a:r>
              <a:rPr lang="en-US" sz="1200" dirty="0">
                <a:solidFill>
                  <a:srgbClr val="C7D9F8"/>
                </a:solidFill>
              </a:rPr>
              <a:t>Retrieve all 3 RAG contexts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52374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③ </a:t>
            </a:r>
            <a:pPr indent="0" marL="0">
              <a:buNone/>
            </a:pPr>
            <a:r>
              <a:rPr lang="en-US" sz="1200" dirty="0">
                <a:solidFill>
                  <a:srgbClr val="C7D9F8"/>
                </a:solidFill>
              </a:rPr>
              <a:t>Plan file list  (LLM call #1)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9535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④ </a:t>
            </a:r>
            <a:pPr indent="0" marL="0">
              <a:buNone/>
            </a:pPr>
            <a:r>
              <a:rPr lang="en-US" sz="1200" dirty="0">
                <a:solidFill>
                  <a:srgbClr val="C7D9F8"/>
                </a:solidFill>
              </a:rPr>
              <a:t>Generate each file separately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⑤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Experience guard rule 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81304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⑥ </a:t>
            </a:r>
            <a:pPr indent="0" marL="0">
              <a:buNone/>
            </a:pPr>
            <a:r>
              <a:rPr lang="en-US" sz="1200" dirty="0">
                <a:solidFill>
                  <a:srgbClr val="C7D9F8"/>
                </a:solidFill>
              </a:rPr>
              <a:t>Create branch + commit files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24281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</a:rPr>
              <a:t>⑦ </a:t>
            </a:r>
            <a:pPr indent="0" marL="0">
              <a:buNone/>
            </a:pPr>
            <a:r>
              <a:rPr lang="en-US" sz="1200" dirty="0">
                <a:solidFill>
                  <a:srgbClr val="C7D9F8"/>
                </a:solidFill>
              </a:rPr>
              <a:t>Open PR + post Jira link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</a:rPr>
              <a:t>LENS  —  PR REVIEW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0"/>
                </a:solidFill>
              </a:rPr>
              <a:t>Three intelligence sources. One complete picture of every PR.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HOW LENS UNDERSTANDS THE PR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26464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9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</a:rPr>
              <a:t>Vector 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7C3AED"/>
                </a:solidFill>
              </a:rPr>
              <a:t>Semantic understanding of the PR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9293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Embeds every changed file and searches the codebase for similar patterns, existing conventions, and related classes — so Lens knows what the code is supposed to look like.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05456"/>
            <a:ext cx="54864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786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</a:rPr>
              <a:t>Graph 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8163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56DB"/>
                </a:solidFill>
              </a:rPr>
              <a:t>Dependency mapping &amp; blast radius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0083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Reads the repo's dependency graph to identify which services call the changed methods, which tests cover them, and what would break if the change is wrong — flags missing coverage of downstream consumers.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584448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84448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6576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</a:rPr>
              <a:t>Experience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89534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59E0B"/>
                </a:solidFill>
              </a:rPr>
              <a:t>Self-learning from past incidents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40873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FA3"/>
                </a:solidFill>
              </a:rPr>
              <a:t>Every confirmed PR finding is stored as an Experience. Lens retrieves the most relevant past incidents and converts them into CRITICAL guard rules applied to this PR — the system gets stricter with every sprint.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130A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241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WHAT LENS FLAGS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4264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426464"/>
            <a:ext cx="594360" cy="530352"/>
          </a:xfrm>
          <a:prstGeom prst="rect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42646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76672" y="14813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Missing logging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170078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Every class needs Logger + INFO/ERROR entries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02996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029968"/>
            <a:ext cx="594360" cy="530352"/>
          </a:xfrm>
          <a:prstGeom prst="rect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0299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76672" y="20848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No error handling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76672" y="2304288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Try-catch blocks + ResponseEntity on all methods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63347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633472"/>
            <a:ext cx="594360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63347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76672" y="268833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Null safety / NPE risk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76672" y="290779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Optional&lt;T&gt; on ID lookups, no raw null returns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23697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236976"/>
            <a:ext cx="594360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36976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76672" y="32918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Wrong HTTP status codes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76672" y="351129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404 not-found, 400 bad-request enforced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84048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3840480"/>
            <a:ext cx="594360" cy="530352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84048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76672" y="3895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Test file coverage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76672" y="411480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Test file must mirror every generated main file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507992"/>
            <a:ext cx="4114800" cy="292608"/>
          </a:xfrm>
          <a:prstGeom prst="rect">
            <a:avLst/>
          </a:prstGeom>
          <a:solidFill>
            <a:srgbClr val="1F0F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4507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</a:rPr>
              <a:t>♻  Every confirmed finding → Experience Store → guard rule on next PR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LIVE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0"/>
                </a:solidFill>
              </a:rPr>
              <a:t>CUDI-11 — Add Order Retrieval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402336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🔀  PR #33 — [CUDI-11] Add Order Retrieval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109728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Craft built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Branch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08483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0"/>
                </a:solidFill>
              </a:rPr>
              <a:t>feature/cudi-11-add-order-retrieval-api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Files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5603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0"/>
                </a:solidFill>
              </a:rPr>
              <a:t>OrderController.java, OrderDao.java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0358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0"/>
                </a:solidFill>
              </a:rPr>
              <a:t>OrderControllerTest.java, OrderDaoTest.java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Labels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51129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0"/>
                </a:solidFill>
              </a:rPr>
              <a:t>feature, order-service, 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70432"/>
            <a:ext cx="40233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70432"/>
            <a:ext cx="40233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Lens findings → Experience Store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700784"/>
            <a:ext cx="11887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Lens reviewed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2084832"/>
            <a:ext cx="713232" cy="274320"/>
          </a:xfrm>
          <a:prstGeom prst="rect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848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210312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0"/>
                </a:solidFill>
              </a:rPr>
              <a:t>Missing Logger → saved as exp-review-003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670048"/>
            <a:ext cx="713232" cy="274320"/>
          </a:xfrm>
          <a:prstGeom prst="rect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67004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268833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0"/>
                </a:solidFill>
              </a:rPr>
              <a:t>No error handling → saved as exp-review-001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255264"/>
            <a:ext cx="713232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25526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327355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0"/>
                </a:solidFill>
              </a:rPr>
              <a:t>Null safety risk → saved as exp-review-002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840480"/>
            <a:ext cx="713232" cy="274320"/>
          </a:xfrm>
          <a:prstGeom prst="rect">
            <a:avLst/>
          </a:prstGeom>
          <a:solidFill>
            <a:srgbClr val="00897B">
              <a:alpha val="7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8404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FIXED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385876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0"/>
                </a:solidFill>
              </a:rPr>
              <a:t>All findings now enforced by Craft on future PRs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599432"/>
            <a:ext cx="9144000" cy="54864"/>
          </a:xfrm>
          <a:prstGeom prst="rect">
            <a:avLst/>
          </a:prstGeom>
          <a:solidFill>
            <a:srgbClr val="D0DBF0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634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</a:rPr>
              <a:t>~90s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20040" y="4983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A3"/>
                </a:solidFill>
              </a:rPr>
              <a:t>Ticket → PR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14600" y="46634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DB"/>
                </a:solidFill>
              </a:rPr>
              <a:t>4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2514600" y="4983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A3"/>
                </a:solidFill>
              </a:rPr>
              <a:t>Files by Craft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46634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3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709160" y="4983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A3"/>
                </a:solidFill>
              </a:rPr>
              <a:t>Findings by Lens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46634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903720" y="4983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A3"/>
                </a:solidFill>
              </a:rPr>
              <a:t>Guard rules active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RETURN ON 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Time saved compounds with every sprint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Area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2070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2070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2070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Saving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12070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FA3"/>
                </a:solidFill>
              </a:rPr>
              <a:t>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18488"/>
            <a:ext cx="8412480" cy="475488"/>
          </a:xfrm>
          <a:prstGeom prst="rect">
            <a:avLst/>
          </a:prstGeom>
          <a:solidFill>
            <a:srgbClr val="1A2D4E"/>
          </a:solidFill>
          <a:ln w="12700">
            <a:solidFill>
              <a:srgbClr val="1A2D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184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9F8"/>
                </a:solidFill>
              </a:rPr>
              <a:t>Implementation planning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3935"/>
                </a:solidFill>
              </a:rPr>
              <a:t>2–4 hrs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0" y="1618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A8"/>
                </a:solidFill>
              </a:rPr>
              <a:t>~90 sec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49440" y="1618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99%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640080" cy="29260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1691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Craft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8412480" cy="47548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1488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9F8"/>
                </a:solidFill>
              </a:rPr>
              <a:t>PR open → first review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0" y="2148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3935"/>
                </a:solidFill>
              </a:rPr>
              <a:t>1–2 days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2148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A8"/>
                </a:solidFill>
              </a:rPr>
              <a:t>Same day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49440" y="21488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~70%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65008" y="2221992"/>
            <a:ext cx="640080" cy="29260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22219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Craft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679192"/>
            <a:ext cx="8412480" cy="475488"/>
          </a:xfrm>
          <a:prstGeom prst="rect">
            <a:avLst/>
          </a:prstGeom>
          <a:solidFill>
            <a:srgbClr val="1A2D4E"/>
          </a:solidFill>
          <a:ln w="12700">
            <a:solidFill>
              <a:srgbClr val="1A2D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67919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9F8"/>
                </a:solidFill>
              </a:rPr>
              <a:t>Review comments per PR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0" y="267919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3935"/>
                </a:solidFill>
              </a:rPr>
              <a:t>3–5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37760" y="2679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A8"/>
                </a:solidFill>
              </a:rPr>
              <a:t>0–1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49440" y="2679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~80%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65008" y="2752344"/>
            <a:ext cx="640080" cy="29260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5008" y="27523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209544"/>
            <a:ext cx="8412480" cy="47548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2095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9F8"/>
                </a:solidFill>
              </a:rPr>
              <a:t>Repeated past mistakes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0" y="32095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3935"/>
                </a:solidFill>
              </a:rPr>
              <a:t>Every sprint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37760" y="3209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A8"/>
                </a:solidFill>
              </a:rPr>
              <a:t>Caught by Lens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49440" y="320954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✅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65008" y="3282696"/>
            <a:ext cx="640080" cy="29260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32826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739896"/>
            <a:ext cx="8412480" cy="475488"/>
          </a:xfrm>
          <a:prstGeom prst="rect">
            <a:avLst/>
          </a:prstGeom>
          <a:solidFill>
            <a:srgbClr val="1A2D4E"/>
          </a:solidFill>
          <a:ln w="12700">
            <a:solidFill>
              <a:srgbClr val="1A2D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3989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9F8"/>
                </a:solidFill>
              </a:rPr>
              <a:t>Prod anomaly → alert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200400" y="37398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3935"/>
                </a:solidFill>
              </a:rPr>
              <a:t>Manual / never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37760" y="37398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A8"/>
                </a:solidFill>
              </a:rPr>
              <a:t>Pulse  (real-time)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49440" y="373989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✅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65008" y="3813048"/>
            <a:ext cx="640080" cy="292608"/>
          </a:xfrm>
          <a:prstGeom prst="rect">
            <a:avLst/>
          </a:prstGeom>
          <a:solidFill>
            <a:srgbClr val="E8340A">
              <a:alpha val="80000"/>
            </a:srgbClr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38130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Pulse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4270248"/>
            <a:ext cx="8412480" cy="47548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2702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9F8"/>
                </a:solidFill>
              </a:rPr>
              <a:t>Bug ticket creation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00400" y="4270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3935"/>
                </a:solidFill>
              </a:rPr>
              <a:t>Manual triage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937760" y="42702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A8"/>
                </a:solidFill>
              </a:rPr>
              <a:t>Probe  (auto)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949440" y="427024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✅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065008" y="4343400"/>
            <a:ext cx="640080" cy="292608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65008" y="43434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Probe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4754880"/>
            <a:ext cx="640080" cy="219456"/>
          </a:xfrm>
          <a:prstGeom prst="rect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7548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Craft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68880" y="4754880"/>
            <a:ext cx="640080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0" y="47548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0" y="4754880"/>
            <a:ext cx="640080" cy="219456"/>
          </a:xfrm>
          <a:prstGeom prst="rect">
            <a:avLst/>
          </a:prstGeom>
          <a:solidFill>
            <a:srgbClr val="E8340A">
              <a:alpha val="85000"/>
            </a:srgbClr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0" y="47548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Pulse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675120" y="4754880"/>
            <a:ext cx="640080" cy="219456"/>
          </a:xfrm>
          <a:prstGeom prst="rect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47548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THE BIG PICTURE  —  KAVACH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self-healing engineering platform — four agents, one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20440" y="1554480"/>
            <a:ext cx="2103120" cy="2103120"/>
          </a:xfrm>
          <a:prstGeom prst="ellipse">
            <a:avLst/>
          </a:prstGeom>
          <a:solidFill>
            <a:srgbClr val="0D1F3C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5544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KAVACH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2834640" cy="1600200"/>
          </a:xfrm>
          <a:prstGeom prst="rect">
            <a:avLst/>
          </a:prstGeom>
          <a:solidFill>
            <a:srgbClr val="0A1E3D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960120"/>
            <a:ext cx="283464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784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CRAFT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3990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69164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Jira ticket → PR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Code + tests + guard rules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834640" cy="1600200"/>
          </a:xfrm>
          <a:prstGeom prst="rect">
            <a:avLst/>
          </a:prstGeom>
          <a:solidFill>
            <a:srgbClr val="150D2A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784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LENS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3990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PR 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PR diff → inline comments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Saves findings to Experience Store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017520"/>
            <a:ext cx="2834640" cy="1600200"/>
          </a:xfrm>
          <a:prstGeom prst="rect">
            <a:avLst/>
          </a:prstGeom>
          <a:solidFill>
            <a:srgbClr val="2A0A05"/>
          </a:solidFill>
          <a:ln w="25400">
            <a:solidFill>
              <a:srgbClr val="E8340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017520"/>
            <a:ext cx="2834640" cy="347472"/>
          </a:xfrm>
          <a:prstGeom prst="rect">
            <a:avLst/>
          </a:prstGeom>
          <a:solidFill>
            <a:srgbClr val="E8340A"/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358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PULSE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3456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340A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74904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Watches prod logs 24/7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Detects anomalies &amp; errors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Alerts NOC instantly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67712" y="3035808"/>
            <a:ext cx="71323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30358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D1A"/>
                </a:solidFill>
              </a:rPr>
              <a:t>FUTURE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834640" cy="1600200"/>
          </a:xfrm>
          <a:prstGeom prst="rect">
            <a:avLst/>
          </a:prstGeom>
          <a:solidFill>
            <a:srgbClr val="021F14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28346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358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PROBE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456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Bug Triage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4904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Logs → root cause analysis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Opens Jira bug automatically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FA3"/>
                </a:solidFill>
              </a:rPr>
              <a:t>Craft picks it up &amp; fixes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11312" y="3035808"/>
            <a:ext cx="71323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30358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D1A"/>
                </a:solidFill>
              </a:rPr>
              <a:t>FUTURE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17520" y="2176272"/>
            <a:ext cx="530352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96128" y="2176272"/>
            <a:ext cx="53035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3127248"/>
            <a:ext cx="530352" cy="54864"/>
          </a:xfrm>
          <a:prstGeom prst="rect">
            <a:avLst/>
          </a:prstGeom>
          <a:solidFill>
            <a:srgbClr val="E8340A"/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96128" y="3127248"/>
            <a:ext cx="5303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4681728"/>
            <a:ext cx="256032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4681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🧠  Shared Experience Store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FULL PLATFORM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From Jira ticket to self-healing production — automatically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969264"/>
            <a:ext cx="804672" cy="82296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969264"/>
            <a:ext cx="804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CRAFT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1975104"/>
            <a:ext cx="804672" cy="8229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975104"/>
            <a:ext cx="804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" y="2980944"/>
            <a:ext cx="804672" cy="822960"/>
          </a:xfrm>
          <a:prstGeom prst="rect">
            <a:avLst/>
          </a:prstGeom>
          <a:solidFill>
            <a:srgbClr val="E8340A">
              <a:alpha val="80000"/>
            </a:srgbClr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2980944"/>
            <a:ext cx="804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PULSE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" y="3986784"/>
            <a:ext cx="804672" cy="822960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3986784"/>
            <a:ext cx="804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PROBE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987552"/>
            <a:ext cx="1005840" cy="78638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9875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📋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Jira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Ticket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67128" y="135331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987552"/>
            <a:ext cx="1005840" cy="786384"/>
          </a:xfrm>
          <a:prstGeom prst="rect">
            <a:avLst/>
          </a:prstGeom>
          <a:solidFill>
            <a:srgbClr val="00C2A8">
              <a:alpha val="7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9875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🧠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55848" y="135331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987552"/>
            <a:ext cx="1005840" cy="786384"/>
          </a:xfrm>
          <a:prstGeom prst="rect">
            <a:avLst/>
          </a:prstGeom>
          <a:solidFill>
            <a:srgbClr val="1A56DB">
              <a:alpha val="7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9875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⚙️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Generate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44568" y="135331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987552"/>
            <a:ext cx="1005840" cy="786384"/>
          </a:xfrm>
          <a:prstGeom prst="rect">
            <a:avLst/>
          </a:prstGeom>
          <a:solidFill>
            <a:srgbClr val="00897B">
              <a:alpha val="7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9875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🛡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Guard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33288" y="135331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987552"/>
            <a:ext cx="1005840" cy="786384"/>
          </a:xfrm>
          <a:prstGeom prst="rect">
            <a:avLst/>
          </a:prstGeom>
          <a:solidFill>
            <a:srgbClr val="E8A838">
              <a:alpha val="75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9875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🔀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19088" y="1389888"/>
            <a:ext cx="54864" cy="9692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993392"/>
            <a:ext cx="1005840" cy="786384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9339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👁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Diff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88152" y="235915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993392"/>
            <a:ext cx="1005840" cy="786384"/>
          </a:xfrm>
          <a:prstGeom prst="rect">
            <a:avLst/>
          </a:prstGeom>
          <a:solidFill>
            <a:srgbClr val="9333EA">
              <a:alpha val="75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99339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✅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Stds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99432" y="235915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1993392"/>
            <a:ext cx="1005840" cy="786384"/>
          </a:xfrm>
          <a:prstGeom prst="rect">
            <a:avLst/>
          </a:prstGeom>
          <a:solidFill>
            <a:srgbClr val="E53935">
              <a:alpha val="75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199339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💬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10712" y="235915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1993392"/>
            <a:ext cx="1005840" cy="78638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199339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📚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143000" y="2999232"/>
            <a:ext cx="1005840" cy="786384"/>
          </a:xfrm>
          <a:prstGeom prst="rect">
            <a:avLst/>
          </a:prstGeom>
          <a:solidFill>
            <a:srgbClr val="E8340A">
              <a:alpha val="75000"/>
            </a:srgbClr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99923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📋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Logs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167128" y="336499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31720" y="2999232"/>
            <a:ext cx="1005840" cy="786384"/>
          </a:xfrm>
          <a:prstGeom prst="rect">
            <a:avLst/>
          </a:prstGeom>
          <a:solidFill>
            <a:srgbClr val="C0392B">
              <a:alpha val="7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299923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🔍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Detect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Error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55848" y="336499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999232"/>
            <a:ext cx="1005840" cy="786384"/>
          </a:xfrm>
          <a:prstGeom prst="rect">
            <a:avLst/>
          </a:prstGeom>
          <a:solidFill>
            <a:srgbClr val="8B0000">
              <a:alpha val="75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299923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🚨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NOC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44568" y="336499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2999232"/>
            <a:ext cx="1005840" cy="78638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99923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Incident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212080" y="3401568"/>
            <a:ext cx="54864" cy="9692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4005072"/>
            <a:ext cx="1005840" cy="786384"/>
          </a:xfrm>
          <a:prstGeom prst="rect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00507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🔬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Analyse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Logs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99432" y="437083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20440" y="4005072"/>
            <a:ext cx="1005840" cy="786384"/>
          </a:xfrm>
          <a:prstGeom prst="rect">
            <a:avLst/>
          </a:prstGeom>
          <a:solidFill>
            <a:srgbClr val="047857">
              <a:alpha val="7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400507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🎯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Cause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10712" y="437083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31720" y="4005072"/>
            <a:ext cx="1005840" cy="786384"/>
          </a:xfrm>
          <a:prstGeom prst="rect">
            <a:avLst/>
          </a:prstGeom>
          <a:solidFill>
            <a:srgbClr val="065F46">
              <a:alpha val="75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31720" y="400507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🐛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Jira Bug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21992" y="4370832"/>
            <a:ext cx="109728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43000" y="4005072"/>
            <a:ext cx="1005840" cy="786384"/>
          </a:xfrm>
          <a:prstGeom prst="rect">
            <a:avLst/>
          </a:prstGeom>
          <a:solidFill>
            <a:srgbClr val="1A56DB">
              <a:alpha val="7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400507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🔧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Craft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Fixes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2A8"/>
                </a:solidFill>
              </a:rPr>
              <a:t>♻  Full loop: prod error → Pulse alerts → Probe opens bug → Craft fixes → Lens reviews → Merged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49440" y="2999232"/>
            <a:ext cx="713232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299923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D1A"/>
                </a:solidFill>
              </a:rPr>
              <a:t>FUTURE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949440" y="4005072"/>
            <a:ext cx="713232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49440" y="400507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D1A"/>
                </a:solidFill>
              </a:rPr>
              <a:t>FUTURE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40A"/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40A"/>
                </a:solidFill>
              </a:rPr>
              <a:t>PULSE  &amp;  PROBE  —  MONITORING + BUG TRIAGE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0"/>
                </a:solidFill>
              </a:rPr>
              <a:t>Production never sleeps — neither do the agents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7764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3977640" cy="402336"/>
          </a:xfrm>
          <a:prstGeom prst="rect">
            <a:avLst/>
          </a:prstGeom>
          <a:solidFill>
            <a:srgbClr val="E8340A"/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📡  PULSE — Monitoring Agent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Watches production 24 / 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195681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Log Ingestion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18541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Reads structured logs from CloudWatch / ELK / Datadog in real time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6151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84378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Flags error spikes, latency surges, OOM events, 5xx storms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27355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NOC Alert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021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Sends severity-ranked PagerDuty / Slack alert with context snippet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931920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Incident Logging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16052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Writes incident summary to shared store for Probe to pick up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078992"/>
            <a:ext cx="397764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078992"/>
            <a:ext cx="397764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🐛  PROBE — Bug Triage Agent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1572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</a:rPr>
              <a:t>Logs → root cause → Jira ticket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938528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21808" y="195681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Log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21808" y="218541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Reads incident log from Pulse, correlates stack traces and events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2596896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21808" y="26151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284378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LLM identifies the failing service, method, and likely cause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255264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🐛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327355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Auto Jira Bug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5021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Opens a fully described bug ticket with logs, severity, and steps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913632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21808" y="3931920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Craft Picks 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21808" y="416052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</a:rPr>
              <a:t>Craft sees the new ticket and generates the fix PR automatically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C2A8"/>
                </a:solidFill>
              </a:rPr>
              <a:t>Prod error  →  Pulse alerts NOC  →  Probe opens Jira bug  →  Craft fixes it  →  Lens reviews it  →  Merged ✅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A8"/>
                </a:solidFill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</a:rPr>
              <a:t>Where Kavach goes from here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743200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NOW  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64208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Craft: Jira → PR in ~90s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Lens: PR review + inline comments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Graph + Vector + Experience RAG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Guard rules from real incidents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Test file generation enforced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17043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70432"/>
            <a:ext cx="2743200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704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 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664208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Pulse: prod log monitoring live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Probe: auto Jira bug creation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Lens auto-approves clean PRs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Slack alerts from Pulse + Probe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Experience store grows automatically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170432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70432"/>
            <a:ext cx="274320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704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 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6792" y="1664208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Jira backlog prioritisation agent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Architecture drift detection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Self-improving guard rules via LLM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Team velocity prediction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2040"/>
                </a:solidFill>
              </a:rPr>
              <a:t>Full sprint autopilot mode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4572" cy="5143500"/>
          </a:xfrm>
          <a:prstGeom prst="rect">
            <a:avLst/>
          </a:prstGeom>
          <a:solidFill>
            <a:srgbClr val="1A3A5C">
              <a:alpha val="2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82880"/>
            <a:ext cx="4114800" cy="4114800"/>
          </a:xfrm>
          <a:prstGeom prst="ellipse">
            <a:avLst/>
          </a:prstGeom>
          <a:solidFill>
            <a:srgbClr val="00C2A8">
              <a:alpha val="8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822960"/>
            <a:ext cx="2743200" cy="2743200"/>
          </a:xfrm>
          <a:prstGeom prst="ellipse">
            <a:avLst/>
          </a:prstGeom>
          <a:solidFill>
            <a:srgbClr val="1A56DB">
              <a:alpha val="12000"/>
            </a:srgbClr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0040"/>
            <a:ext cx="54864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260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 V A C H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6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LIVE.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11480" y="15087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9BB8D4"/>
                </a:solidFill>
              </a:rPr>
              <a:t>Craft builds. Lens reviews. Pulse watches.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9BB8D4"/>
                </a:solidFill>
              </a:rPr>
              <a:t>Probe investigates. The loop never stops.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114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A8"/>
                </a:solidFill>
              </a:rPr>
              <a:t>WE ARE ASKING FOR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834640"/>
            <a:ext cx="7772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Approve Craft + Lens into the main sprint workflow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Prioritise Pulse + Probe for the next quarter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Feed the Experience Store with your team's past incidents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11480" y="4224528"/>
            <a:ext cx="1920240" cy="38404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24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CRAFT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4224528"/>
            <a:ext cx="1920240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224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LENS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4224528"/>
            <a:ext cx="1920240" cy="384048"/>
          </a:xfrm>
          <a:prstGeom prst="rect">
            <a:avLst/>
          </a:prstGeom>
          <a:solidFill>
            <a:srgbClr val="E8340A">
              <a:alpha val="80000"/>
            </a:srgbClr>
          </a:solidFill>
          <a:ln w="12700">
            <a:solidFill>
              <a:srgbClr val="E834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224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PULSE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4224528"/>
            <a:ext cx="1920240" cy="384048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224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PROBE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50C17"/>
          </a:solidFill>
          <a:ln w="12700">
            <a:solidFill>
              <a:srgbClr val="050C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828032"/>
            <a:ext cx="9144000" cy="20117"/>
          </a:xfrm>
          <a:prstGeom prst="rect">
            <a:avLst/>
          </a:prstGeom>
          <a:solidFill>
            <a:srgbClr val="00C2A8">
              <a:alpha val="5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846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4A6A"/>
                </a:solidFill>
              </a:rPr>
              <a:t>Shubham Shandilya  ·  github.com/shubhamShandilya414  ·  March 2026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32320" y="4846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2A8"/>
                </a:solidFill>
              </a:rPr>
              <a:t>KAVACH  v1.0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 — Agentic Engineering Platform</dc:title>
  <dc:subject>PptxGenJS Presentation</dc:subject>
  <dc:creator>PptxGenJS</dc:creator>
  <cp:lastModifiedBy>PptxGenJS</cp:lastModifiedBy>
  <cp:revision>1</cp:revision>
  <dcterms:created xsi:type="dcterms:W3CDTF">2026-03-05T14:59:23Z</dcterms:created>
  <dcterms:modified xsi:type="dcterms:W3CDTF">2026-03-05T14:59:23Z</dcterms:modified>
</cp:coreProperties>
</file>